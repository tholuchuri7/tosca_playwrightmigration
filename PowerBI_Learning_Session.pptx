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05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146304" cy="685800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PwC | TEAM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920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1920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From Excel</a:t>
            </a:r>
            <a:br/>
            <a:r>
              <a:t>to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Arial"/>
              </a:defRPr>
            </a:pPr>
            <a:r>
              <a:t>Power BI — From Data to Business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233172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Arial"/>
              </a:defRPr>
            </a:pPr>
            <a:r>
              <a:t>A simple end-to-end view of how a dashboard is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703320"/>
            <a:ext cx="1325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38679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2245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0037"/>
                </a:solidFill>
                <a:latin typeface="Arial"/>
              </a:defRPr>
            </a:pPr>
            <a:r>
              <a:t>Get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9651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3703320"/>
            <a:ext cx="1325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4648" y="38679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42245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0037"/>
                </a:solidFill>
                <a:latin typeface="Arial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09651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5976" y="3703320"/>
            <a:ext cx="1325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57416" y="38679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42245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0037"/>
                </a:solidFill>
                <a:latin typeface="Arial"/>
              </a:defRPr>
            </a:pPr>
            <a: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409651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3703320"/>
            <a:ext cx="1325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3" y="38679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2245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0037"/>
                </a:solidFill>
                <a:latin typeface="Arial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4096512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3703320"/>
            <a:ext cx="1325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02952" y="38679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42245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0037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62356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65019"/>
                </a:solidFill>
                <a:latin typeface="Arial"/>
              </a:defRPr>
            </a:pPr>
            <a:r>
              <a:t>Business question → Data → Insight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01 | END-TO-END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How a Power BI report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Arial"/>
              </a:defRPr>
            </a:pPr>
            <a:r>
              <a:t>The complete process can be explained in five simple business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011680" cy="109728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GET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Arial"/>
              </a:defRPr>
            </a:pPr>
            <a:r>
              <a:t>Bring Excel data into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Arial"/>
              </a:defRPr>
            </a:pPr>
            <a:r>
              <a:t>Excel /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192024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34639" y="1920240"/>
            <a:ext cx="2011680" cy="109728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799" y="22128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799" y="2670048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310128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Arial"/>
              </a:defRPr>
            </a:pPr>
            <a:r>
              <a:t>Clean, modify and prepare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799" y="443484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Arial"/>
              </a:defRPr>
            </a:pPr>
            <a:r>
              <a:t>Power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59" y="192024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6359" y="1920240"/>
            <a:ext cx="2011680" cy="109728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22128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670048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1" y="3310128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Arial"/>
              </a:defRPr>
            </a:pPr>
            <a:r>
              <a:t>Create calculations for business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43484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Arial"/>
              </a:defRPr>
            </a:pPr>
            <a:r>
              <a:t>DAX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92024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98079" y="1920240"/>
            <a:ext cx="2011680" cy="109728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35240" y="22128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670048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VISUALIZE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3310128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Arial"/>
              </a:defRPr>
            </a:pPr>
            <a:r>
              <a:t>Build cards, slicers and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43484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Arial"/>
              </a:defRPr>
            </a:pPr>
            <a:r>
              <a:t>Report canvas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315468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1920240"/>
            <a:ext cx="2011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29800" y="1920240"/>
            <a:ext cx="2011680" cy="109728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66960" y="2212848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670048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3310128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Arial"/>
              </a:defRPr>
            </a:pPr>
            <a:r>
              <a:t>Combine insights into a ready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43484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  <a:latin typeface="Arial"/>
              </a:defRPr>
            </a:pPr>
            <a:r>
              <a:t>Business 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62356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65019"/>
                </a:solidFill>
                <a:latin typeface="Arial"/>
              </a:defRPr>
            </a:pPr>
            <a:r>
              <a:t>This is the story to follow during the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02 |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1. Get Data from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Start with the data the business already maintains.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64008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D0037"/>
                </a:solidFill>
                <a:latin typeface="Arial"/>
              </a:defRPr>
            </a:pPr>
            <a:r>
              <a:t>Excel tracker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0320"/>
            <a:ext cx="150876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660904"/>
            <a:ext cx="1472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560320"/>
            <a:ext cx="91440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1448" y="2660904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560320"/>
            <a:ext cx="123444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2660904"/>
            <a:ext cx="11978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660904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560320"/>
            <a:ext cx="73152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21807" y="2660904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560320"/>
            <a:ext cx="731520" cy="457200"/>
          </a:xfrm>
          <a:prstGeom prst="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3327" y="2660904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017520"/>
            <a:ext cx="150876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2"/>
            <a:ext cx="1472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Project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017520"/>
            <a:ext cx="91440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41448" y="3136392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017520"/>
            <a:ext cx="123444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55848" y="3136392"/>
            <a:ext cx="11978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Tosca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0175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8" y="31363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30175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21807" y="31363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0175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53327" y="31363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474720"/>
            <a:ext cx="15087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3593592"/>
            <a:ext cx="1472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Project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474720"/>
            <a:ext cx="914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41448" y="3593592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3474720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55848" y="3593592"/>
            <a:ext cx="11978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Selenium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747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90288" y="35935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4747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21807" y="35935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4747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53327" y="35935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931920"/>
            <a:ext cx="150876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" y="4050791"/>
            <a:ext cx="1472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Project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3931920"/>
            <a:ext cx="91440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41448" y="4050791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3931920"/>
            <a:ext cx="123444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55848" y="4050791"/>
            <a:ext cx="11978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Tosca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39319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0288" y="4050791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9319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21807" y="4050791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260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931920"/>
            <a:ext cx="731520" cy="457200"/>
          </a:xfrm>
          <a:prstGeom prst="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53327" y="4050791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4389120"/>
            <a:ext cx="15087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" y="4507992"/>
            <a:ext cx="14721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Project 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23160" y="4389120"/>
            <a:ext cx="914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1448" y="4507992"/>
            <a:ext cx="87782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37560" y="4389120"/>
            <a:ext cx="1234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355848" y="4507992"/>
            <a:ext cx="119786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Manual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43891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90288" y="45079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43891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21807" y="45079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438912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53327" y="4507992"/>
            <a:ext cx="69494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46720" y="2057400"/>
            <a:ext cx="3383280" cy="283464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75320" y="233172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POWER BI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283464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Get Data</a:t>
            </a:r>
            <a:br/>
            <a:r>
              <a:t>→ Excel</a:t>
            </a:r>
            <a:br/>
            <a:r>
              <a:t>→ Select table / sheet</a:t>
            </a:r>
            <a:br/>
            <a:r>
              <a:t>→ Load or Transform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Arial"/>
              </a:defRPr>
            </a:pPr>
            <a:r>
              <a:t>Business purpose: connect the report to the source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03 |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2. Transform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Power Query is where we clean and shape the data before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REMOVE /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Remove unused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Remove duplicate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28415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Fix data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12463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Replace blanks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1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Standardize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60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Filter unwanted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97180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1828800"/>
            <a:ext cx="3246120" cy="32004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0574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MODIFY / ADD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560320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Rename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944368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Split / merge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328415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Add Month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712463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Add Year-Month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096511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Create required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480560"/>
            <a:ext cx="2697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rial"/>
              </a:defRPr>
            </a:pPr>
            <a:r>
              <a:t>• Set business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97180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1828800"/>
            <a:ext cx="3063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2057400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READY FOR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697480"/>
            <a:ext cx="2606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D0037"/>
                </a:solidFill>
                <a:latin typeface="Arial"/>
              </a:defRPr>
            </a:pPr>
            <a:r>
              <a:t>Clean</a:t>
            </a:r>
            <a:br/>
            <a:r>
              <a:t>Consistent</a:t>
            </a:r>
            <a:br/>
            <a:r>
              <a:t>Correct data types</a:t>
            </a:r>
            <a:br/>
            <a:r>
              <a:t>Calculation-ready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65019"/>
                </a:solidFill>
                <a:latin typeface="Arial"/>
              </a:defRPr>
            </a:pPr>
            <a:r>
              <a:t>Business purpose: make the data reliable and usable.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04 |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3. Create Measures for Business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Measures convert detailed rows into values the business can monitor.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743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SOURCE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21945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D0037"/>
                </a:solidFill>
                <a:latin typeface="Arial"/>
              </a:defRPr>
            </a:pPr>
            <a:r>
              <a:t>1,800 total cases</a:t>
            </a:r>
            <a:br/>
            <a:r>
              <a:t>435 passed</a:t>
            </a:r>
            <a:br/>
            <a:r>
              <a:t>132 failed</a:t>
            </a:r>
            <a:br/>
            <a:r>
              <a:t>38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645920"/>
            <a:ext cx="3794760" cy="36576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E65019"/>
                </a:solidFill>
                <a:latin typeface="Arial"/>
              </a:defRPr>
            </a:pPr>
            <a:r>
              <a:t>EXAMPLE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68880"/>
            <a:ext cx="32461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Arial"/>
              </a:defRPr>
            </a:pPr>
            <a:r>
              <a:t>Total Cases</a:t>
            </a:r>
            <a:br/>
            <a:r>
              <a:t>= COUNTROWS(...)</a:t>
            </a:r>
            <a:br/>
            <a:br/>
            <a:r>
              <a:t>Failed Cases</a:t>
            </a:r>
            <a:br/>
            <a:r>
              <a:t>= CALCULATE(...)</a:t>
            </a:r>
            <a:br/>
            <a:br/>
            <a:r>
              <a:t>Failure Rate</a:t>
            </a:r>
            <a:br/>
            <a:r>
              <a:t>= DIVIDE(...)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78308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1892807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TOTAL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4884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0037"/>
                </a:solidFill>
                <a:latin typeface="Arial"/>
              </a:defRPr>
            </a:pPr>
            <a:r>
              <a:t>1,800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9718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3081528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33756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AA233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16052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4270248"/>
            <a:ext cx="2560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FAILURE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5262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910032"/>
                </a:solidFill>
                <a:latin typeface="Arial"/>
              </a:defRPr>
            </a:pPr>
            <a:r>
              <a:t>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65019"/>
                </a:solidFill>
                <a:latin typeface="Arial"/>
              </a:defRPr>
            </a:pPr>
            <a:r>
              <a:t>Business purpose: calculate KPIs dynamically when filters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05 | REPORT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4. Create Cards, KPI Cards and Slicers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These controls let the user see the most important numbers and filter the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468880" cy="11430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93392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04288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D0037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828800"/>
            <a:ext cx="2468880" cy="11430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993392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TOTAL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04288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D0037"/>
                </a:solidFill>
                <a:latin typeface="Arial"/>
              </a:defRPr>
            </a:pPr>
            <a:r>
              <a:t>1,800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468880" cy="11430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1993392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304288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D7D55"/>
                </a:solidFill>
                <a:latin typeface="Arial"/>
              </a:defRPr>
            </a:pPr>
            <a:r>
              <a:t>435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828800"/>
            <a:ext cx="2468880" cy="11430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79" y="1993392"/>
            <a:ext cx="2286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2304288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AA233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8328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65019"/>
                </a:solidFill>
                <a:latin typeface="Arial"/>
              </a:defRPr>
            </a:pPr>
            <a:r>
              <a:t>SLICERS / DROPDOWNS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Arial"/>
              </a:defRPr>
            </a:pPr>
            <a:r>
              <a:t>Month  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8862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406908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Arial"/>
              </a:defRPr>
            </a:pPr>
            <a:r>
              <a:t>Project  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886200"/>
            <a:ext cx="32461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4069080"/>
            <a:ext cx="2880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Arial"/>
              </a:defRPr>
            </a:pPr>
            <a:r>
              <a:t>Automation Type  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74920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D0037"/>
                </a:solidFill>
                <a:latin typeface="Arial"/>
              </a:defRPr>
            </a:pPr>
            <a:r>
              <a:t>Example: select Project A → all cards, charts and tables recalculate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06 |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5. Build the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Arial"/>
              </a:defRPr>
            </a:pPr>
            <a:r>
              <a:t>Choose the visual based on the business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011680" cy="32461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KPI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How many?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1737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1,800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828800"/>
            <a:ext cx="2011680" cy="32461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205740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LINE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517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What changed?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03320"/>
            <a:ext cx="1737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Monthly trend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1828800"/>
            <a:ext cx="2011680" cy="32461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5740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6517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Which project?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703320"/>
            <a:ext cx="1737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Compare projects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1828800"/>
            <a:ext cx="2011680" cy="32461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205740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517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Where is the issue?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03320"/>
            <a:ext cx="1737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Failure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1828800"/>
            <a:ext cx="2011680" cy="32461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12680" y="205740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SLICER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651760"/>
            <a:ext cx="1737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D0037"/>
                </a:solidFill>
                <a:latin typeface="Arial"/>
              </a:defRPr>
            </a:pPr>
            <a:r>
              <a:t>What do I want?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703320"/>
            <a:ext cx="1737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Arial"/>
              </a:defRPr>
            </a:pPr>
            <a:r>
              <a:t>Filter the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65019"/>
                </a:solidFill>
                <a:latin typeface="Arial"/>
              </a:defRPr>
            </a:pPr>
            <a:r>
              <a:t>Business readability = fewer visuals, clearer questions, consistent terminology.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07 |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Final: Business-Ready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78992"/>
            <a:ext cx="2057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197864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Arial"/>
              </a:defRPr>
            </a:pPr>
            <a:r>
              <a:t>Month 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078992"/>
            <a:ext cx="2057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197864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Arial"/>
              </a:defRPr>
            </a:pPr>
            <a:r>
              <a:t>Project 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078992"/>
            <a:ext cx="20574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197864"/>
            <a:ext cx="187451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Arial"/>
              </a:defRPr>
            </a:pPr>
            <a:r>
              <a:t>Automation Type 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737360"/>
            <a:ext cx="2468880" cy="9144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874519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48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0037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79" y="1737360"/>
            <a:ext cx="2468880" cy="9144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1874519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TOTAL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0037"/>
                </a:solidFill>
                <a:latin typeface="Arial"/>
              </a:defRPr>
            </a:pPr>
            <a:r>
              <a:t>1,800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37360"/>
            <a:ext cx="2468880" cy="9144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874519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7D55"/>
                </a:solidFill>
                <a:latin typeface="Arial"/>
              </a:defRPr>
            </a:pPr>
            <a:r>
              <a:t>435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737360"/>
            <a:ext cx="2468880" cy="91440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59" y="1874519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46464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148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AA233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926080"/>
            <a:ext cx="55778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127248"/>
            <a:ext cx="5120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D0037"/>
                </a:solidFill>
                <a:latin typeface="Arial"/>
              </a:defRPr>
            </a:pPr>
            <a:r>
              <a:t>Execution trend by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892040"/>
            <a:ext cx="4480560" cy="18288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43000" y="4142231"/>
            <a:ext cx="384048" cy="749807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6232" y="4005071"/>
            <a:ext cx="384048" cy="886967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64792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9464" y="3895344"/>
            <a:ext cx="384048" cy="996695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78024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Jun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2696" y="3511296"/>
            <a:ext cx="384048" cy="1380743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91256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Jul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5928" y="3218688"/>
            <a:ext cx="384048" cy="1673352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04488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Aug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3054095"/>
            <a:ext cx="384048" cy="1837944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17720" y="4956048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46464"/>
                </a:solidFill>
                <a:latin typeface="Arial"/>
              </a:defRPr>
            </a:pPr>
            <a:r>
              <a:t>Sep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926080"/>
            <a:ext cx="51206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3127248"/>
            <a:ext cx="4663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D0037"/>
                </a:solidFill>
                <a:latin typeface="Arial"/>
              </a:defRPr>
            </a:pPr>
            <a:r>
              <a:t>Project 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611880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Arial"/>
              </a:defRPr>
            </a:pPr>
            <a:r>
              <a:t>Project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611880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Arial"/>
              </a:defRPr>
            </a:pPr>
            <a:r>
              <a:t>8.2%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05072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Arial"/>
              </a:defRPr>
            </a:pPr>
            <a:r>
              <a:t>Project 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005072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Arial"/>
              </a:defRPr>
            </a:pPr>
            <a:r>
              <a:t>14.5%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398264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Arial"/>
              </a:defRPr>
            </a:pPr>
            <a:r>
              <a:t>Project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398264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Arial"/>
              </a:defRPr>
            </a:pPr>
            <a:r>
              <a:t>5.1%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791456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Arial"/>
              </a:defRPr>
            </a:pPr>
            <a:r>
              <a:t>Project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791456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A2332"/>
                </a:solidFill>
                <a:latin typeface="Arial"/>
              </a:defRPr>
            </a:pPr>
            <a:r>
              <a:t>22.0%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184648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Arial"/>
              </a:defRPr>
            </a:pPr>
            <a:r>
              <a:t>Project 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184648"/>
            <a:ext cx="1005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Arial"/>
              </a:defRPr>
            </a:pPr>
            <a:r>
              <a:t>11.4%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65019"/>
                </a:solidFill>
                <a:latin typeface="Arial"/>
              </a:defRPr>
            </a:pPr>
            <a:r>
              <a:t>Final outcome: a single page for monitoring, filtering and decision-making.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08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The complete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GET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Bring source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Power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Remove / modify / 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2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DAX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Calculate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Cards + Slicers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Filter the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2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VISUALIZE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Charts +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Explain the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30632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E6501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1874519"/>
            <a:ext cx="1645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2148840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5019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743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D0037"/>
                </a:solidFill>
                <a:latin typeface="Arial"/>
              </a:defRPr>
            </a:pPr>
            <a:r>
              <a:t>Final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3474720"/>
            <a:ext cx="14264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Arial"/>
              </a:defRPr>
            </a:pPr>
            <a:r>
              <a:t>Business-ready 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0352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Arial"/>
              </a:defRPr>
            </a:pPr>
            <a:r>
              <a:t>This is the structure to remember when building any Power BI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09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Live demo: use the same five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85800" cy="566928"/>
          </a:xfrm>
          <a:prstGeom prst="round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62456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2344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0037"/>
                </a:solidFill>
                <a:latin typeface="Arial"/>
              </a:defRPr>
            </a:pPr>
            <a:r>
              <a:t>Get Excel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23444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rial"/>
              </a:defRPr>
            </a:pPr>
            <a:r>
              <a:t>Load the project tracker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685800" cy="566928"/>
          </a:xfrm>
          <a:prstGeom prst="round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276856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488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0037"/>
                </a:solidFill>
                <a:latin typeface="Arial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4884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rial"/>
              </a:defRPr>
            </a:pPr>
            <a:r>
              <a:t>Clean / modify / add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685800" cy="566928"/>
          </a:xfrm>
          <a:prstGeom prst="round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191256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632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0037"/>
                </a:solidFill>
                <a:latin typeface="Arial"/>
              </a:defRPr>
            </a:pPr>
            <a:r>
              <a:t>Create 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6324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rial"/>
              </a:defRPr>
            </a:pPr>
            <a:r>
              <a:t>Build Total, Passed, Failed, Failure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685800" cy="566928"/>
          </a:xfrm>
          <a:prstGeom prst="round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105655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77639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0037"/>
                </a:solidFill>
                <a:latin typeface="Arial"/>
              </a:defRPr>
            </a:pPr>
            <a:r>
              <a:t>Create report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77639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rial"/>
              </a:defRPr>
            </a:pPr>
            <a:r>
              <a:t>Cards + dropdowns + slicers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685800" cy="566928"/>
          </a:xfrm>
          <a:prstGeom prst="roundRect">
            <a:avLst/>
          </a:prstGeom>
          <a:solidFill>
            <a:srgbClr val="2D0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020055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920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D0037"/>
                </a:solidFill>
                <a:latin typeface="Arial"/>
              </a:defRPr>
            </a:pPr>
            <a:r>
              <a:t>Build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89204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rial"/>
              </a:defRPr>
            </a:pPr>
            <a:r>
              <a:t>Combine visuals into one business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65019"/>
                </a:solidFill>
                <a:latin typeface="Arial"/>
              </a:defRPr>
            </a:pPr>
            <a:r>
              <a:t>Recommended demo: spend most of the session in Power BI, not on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65019"/>
                </a:solidFill>
                <a:latin typeface="Arial"/>
              </a:defRPr>
            </a:pPr>
            <a:r>
              <a:t>10 |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Arial"/>
              </a:defRPr>
            </a:pPr>
            <a:r>
              <a:t>What the team should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D0037"/>
                </a:solidFill>
                <a:latin typeface="Arial"/>
              </a:defRPr>
            </a:pPr>
            <a:r>
              <a:t>Power BI is not just a charting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rial"/>
              </a:defRPr>
            </a:pPr>
            <a:r>
              <a:t>It connects → prepares → calculates → filters → visualizes → communicates.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2377440" cy="11887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0037"/>
                </a:solidFill>
                <a:latin typeface="Arial"/>
              </a:defRPr>
            </a:pPr>
            <a:r>
              <a:t>Reliable 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79" y="3794760"/>
            <a:ext cx="2377440" cy="11887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40233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CALCULATIONS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0037"/>
                </a:solidFill>
                <a:latin typeface="Arial"/>
              </a:defRPr>
            </a:pPr>
            <a:r>
              <a:t>Reusable measures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94760"/>
            <a:ext cx="2377440" cy="11887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0037"/>
                </a:solidFill>
                <a:latin typeface="Arial"/>
              </a:defRPr>
            </a:pPr>
            <a:r>
              <a:t>Dynamic filters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3794760"/>
            <a:ext cx="2377440" cy="1188720"/>
          </a:xfrm>
          <a:prstGeom prst="roundRect">
            <a:avLst/>
          </a:prstGeom>
          <a:solidFill>
            <a:srgbClr val="FBF8F4"/>
          </a:solidFill>
          <a:ln>
            <a:solidFill>
              <a:srgbClr val="F2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40233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65019"/>
                </a:solidFill>
                <a:latin typeface="Arial"/>
              </a:defRPr>
            </a:pPr>
            <a:r>
              <a:t>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40740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0037"/>
                </a:solidFill>
                <a:latin typeface="Arial"/>
              </a:defRPr>
            </a:pPr>
            <a:r>
              <a:t>Clear business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65019"/>
                </a:solidFill>
                <a:latin typeface="Arial"/>
              </a:defRPr>
            </a:pPr>
            <a:r>
              <a:t>One report. One view. Better understanding.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44200" y="2286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700" b="1">
                <a:solidFill>
                  <a:srgbClr val="2D0037"/>
                </a:solidFill>
                <a:latin typeface="Arial"/>
              </a:defRPr>
            </a:pPr>
            <a:r>
              <a:t>PwC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D0037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rial"/>
              </a:defRPr>
            </a:pPr>
            <a:r>
              <a:t>Let's build one report from our own team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406908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65019"/>
                </a:solidFill>
                <a:latin typeface="Arial"/>
              </a:defRPr>
            </a:pPr>
            <a:r>
              <a:t>Get Data → Transform → Measure → Visualize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89204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D0037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F2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83096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Arial"/>
              </a:defRPr>
            </a:pPr>
            <a:r>
              <a:t>Power BI | Team Learning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646464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894</Words>
  <Application>Microsoft Office PowerPoint</Application>
  <PresentationFormat>Widescreen</PresentationFormat>
  <Paragraphs>285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Tholuchuri Venkat</dc:creator>
  <cp:keywords/>
  <dc:description>generated using python-pptx</dc:description>
  <cp:lastModifiedBy>Tholuchuri Venkat</cp:lastModifiedBy>
  <cp:revision>2</cp:revision>
  <dcterms:created xsi:type="dcterms:W3CDTF">2013-01-27T09:14:16Z</dcterms:created>
  <dcterms:modified xsi:type="dcterms:W3CDTF">2026-09-23T13:24:30Z</dcterms:modified>
  <cp:category/>
</cp:coreProperties>
</file>