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98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ADA57-92E4-4250-B901-E08A3C3D140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461A1-3353-4325-9661-9EEB779A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01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61A1-3353-4325-9661-9EEB779AA1B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47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640080" cy="4114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Georgia"/>
              </a:rPr>
              <a:t>pwc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1440"/>
            <a:ext cx="201168" cy="100584"/>
          </a:xfrm>
          <a:prstGeom prst="rect">
            <a:avLst/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8952" y="45720"/>
            <a:ext cx="164592" cy="91440"/>
          </a:xfrm>
          <a:prstGeom prst="rect">
            <a:avLst/>
          </a:prstGeom>
          <a:solidFill>
            <a:srgbClr val="F27014"/>
          </a:solidFill>
          <a:ln>
            <a:solidFill>
              <a:srgbClr val="F2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46304"/>
            <a:ext cx="219456" cy="91440"/>
          </a:xfrm>
          <a:prstGeom prst="rect">
            <a:avLst/>
          </a:prstGeom>
          <a:solidFill>
            <a:srgbClr val="D24100"/>
          </a:solidFill>
          <a:ln>
            <a:solidFill>
              <a:srgbClr val="D2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9536" y="91440"/>
            <a:ext cx="146304" cy="146304"/>
          </a:xfrm>
          <a:prstGeom prst="rect">
            <a:avLst/>
          </a:prstGeom>
          <a:solidFill>
            <a:srgbClr val="F7921E"/>
          </a:solidFill>
          <a:ln>
            <a:solidFill>
              <a:srgbClr val="F79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200698"/>
            <a:ext cx="6546792" cy="412421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just"/>
            <a:r>
              <a:rPr sz="2200" b="1" dirty="0">
                <a:solidFill>
                  <a:srgbClr val="191919"/>
                </a:solidFill>
                <a:latin typeface="Georgia"/>
              </a:rPr>
              <a:t>Tosca → Playwright Converter </a:t>
            </a:r>
            <a:r>
              <a:rPr lang="en-IN" sz="2200" b="1" dirty="0">
                <a:solidFill>
                  <a:srgbClr val="191919"/>
                </a:solidFill>
                <a:latin typeface="Georgia"/>
              </a:rPr>
              <a:t>| Architecture</a:t>
            </a:r>
            <a:endParaRPr sz="2200" b="1" dirty="0">
              <a:solidFill>
                <a:srgbClr val="191919"/>
              </a:solidFill>
              <a:latin typeface="Georg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29968" y="630634"/>
            <a:ext cx="6078715" cy="2200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50" b="0" dirty="0">
                <a:solidFill>
                  <a:srgbClr val="696969"/>
                </a:solidFill>
                <a:latin typeface="Aptos"/>
              </a:rPr>
              <a:t>Intelligent conversion of Tosca test cases to Playwright using module metadata, Business Type and locator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182880"/>
            <a:ext cx="68580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84048"/>
            <a:ext cx="68580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585216"/>
            <a:ext cx="68580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Possibilities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018520" y="804672"/>
            <a:ext cx="301752" cy="22860"/>
          </a:xfrm>
          <a:prstGeom prst="rect">
            <a:avLst/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160" y="1097280"/>
            <a:ext cx="2011680" cy="482803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37160" y="109728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" y="1143000"/>
            <a:ext cx="164592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1 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1581912"/>
            <a:ext cx="169164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rgbClr val="191919"/>
                </a:solidFill>
                <a:latin typeface="Aptos"/>
              </a:rPr>
              <a:t>Tosca Test Case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1883664"/>
            <a:ext cx="173736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2011680"/>
            <a:ext cx="1527048" cy="95718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rPr dirty="0"/>
              <a:t>• Test Step</a:t>
            </a:r>
          </a:p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rPr dirty="0"/>
              <a:t>• Control Name</a:t>
            </a:r>
          </a:p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rPr dirty="0"/>
              <a:t>• Value</a:t>
            </a:r>
          </a:p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rPr dirty="0"/>
              <a:t>• Action (Click / Input / Verify / Select)</a:t>
            </a:r>
          </a:p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rPr dirty="0"/>
              <a:t>• Execution 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429000"/>
            <a:ext cx="169164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rgbClr val="191919"/>
                </a:solidFill>
                <a:latin typeface="Aptos"/>
              </a:rPr>
              <a:t>Tosca Modules (.tsu)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730752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3192" y="3858768"/>
            <a:ext cx="1463040" cy="12984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t>• Control metadata</a:t>
            </a:r>
          </a:p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t>• BusinessType</a:t>
            </a:r>
          </a:p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t>• ID / Class / Tag</a:t>
            </a:r>
          </a:p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t>• Inner Text</a:t>
            </a:r>
          </a:p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t>• Technical Properties</a:t>
            </a:r>
          </a:p>
          <a:p>
            <a:pPr>
              <a:spcAft>
                <a:spcPts val="300"/>
              </a:spcAft>
              <a:defRPr sz="810">
                <a:solidFill>
                  <a:srgbClr val="373737"/>
                </a:solidFill>
                <a:latin typeface="Aptos"/>
              </a:defRPr>
            </a:pPr>
            <a:r>
              <a:t>• Object Hierarchy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59152" y="1097280"/>
            <a:ext cx="2487168" cy="4828032"/>
          </a:xfrm>
          <a:prstGeom prst="roundRect">
            <a:avLst>
              <a:gd name="adj" fmla="val 8000"/>
            </a:avLst>
          </a:prstGeom>
          <a:solidFill>
            <a:srgbClr val="FFFAF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359152" y="1097280"/>
            <a:ext cx="2487168" cy="438912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96312" y="1143000"/>
            <a:ext cx="214884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2  CONVERTER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6312" y="1581912"/>
            <a:ext cx="214884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50" b="0">
                <a:solidFill>
                  <a:srgbClr val="373737"/>
                </a:solidFill>
                <a:latin typeface="Aptos"/>
              </a:rPr>
              <a:t>Parse • Analyse • Build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96312" y="1847088"/>
            <a:ext cx="221284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587752" y="196596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87752" y="1965960"/>
            <a:ext cx="256032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1920240"/>
            <a:ext cx="1600200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1">
                <a:solidFill>
                  <a:srgbClr val="191919"/>
                </a:solidFill>
                <a:latin typeface="Aptos"/>
              </a:rPr>
              <a:t>Parse &amp; Extract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2112419"/>
            <a:ext cx="1478495" cy="2831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680" b="0">
                <a:solidFill>
                  <a:srgbClr val="373737"/>
                </a:solidFill>
                <a:latin typeface="Aptos"/>
              </a:rPr>
              <a:t>Parse Test Case JSON to extract each test step and action details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96312" y="2578608"/>
            <a:ext cx="221284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587752" y="269748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87752" y="2697480"/>
            <a:ext cx="256032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2651760"/>
            <a:ext cx="1600200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1">
                <a:solidFill>
                  <a:srgbClr val="191919"/>
                </a:solidFill>
                <a:latin typeface="Aptos"/>
              </a:rPr>
              <a:t>Identify Properties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2819049"/>
            <a:ext cx="1478495" cy="3877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680" b="0" dirty="0">
                <a:solidFill>
                  <a:srgbClr val="373737"/>
                </a:solidFill>
                <a:latin typeface="Aptos"/>
              </a:rPr>
              <a:t>Extract all available locator properties from JSON and module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96312" y="3310128"/>
            <a:ext cx="221284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587752" y="342900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87752" y="3429000"/>
            <a:ext cx="256032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3383280"/>
            <a:ext cx="1600200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1">
                <a:solidFill>
                  <a:srgbClr val="191919"/>
                </a:solidFill>
                <a:latin typeface="Aptos"/>
              </a:rPr>
              <a:t>Match Module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3593747"/>
            <a:ext cx="1655064" cy="2831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680" b="0">
                <a:solidFill>
                  <a:srgbClr val="373737"/>
                </a:solidFill>
                <a:latin typeface="Aptos"/>
              </a:rPr>
              <a:t>Match test step with Tosca module and fetch BusinessType + technical properties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96312" y="4041648"/>
            <a:ext cx="221284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587752" y="416052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587752" y="4160520"/>
            <a:ext cx="256032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4114800"/>
            <a:ext cx="1600200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1">
                <a:solidFill>
                  <a:srgbClr val="191919"/>
                </a:solidFill>
                <a:latin typeface="Aptos"/>
              </a:rPr>
              <a:t>Build Locator Candidate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4343555"/>
            <a:ext cx="1600200" cy="2831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680" b="0" dirty="0">
                <a:solidFill>
                  <a:srgbClr val="373737"/>
                </a:solidFill>
                <a:latin typeface="Aptos"/>
              </a:rPr>
              <a:t>Collect all possible properties as evidence for locator decision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96312" y="4873752"/>
            <a:ext cx="2212848" cy="850392"/>
          </a:xfrm>
          <a:prstGeom prst="roundRect">
            <a:avLst>
              <a:gd name="adj" fmla="val 8000"/>
            </a:avLst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15184" y="4937760"/>
            <a:ext cx="196596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Example: Parse Test Step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15184" y="5157216"/>
            <a:ext cx="1965960" cy="20116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Step: </a:t>
            </a:r>
            <a:r>
              <a:rPr sz="800" b="1">
                <a:solidFill>
                  <a:srgbClr val="F27014"/>
                </a:solidFill>
                <a:latin typeface="Aptos"/>
              </a:rPr>
              <a:t>Click “Login” button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15184" y="5385816"/>
            <a:ext cx="19659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710" b="0">
                <a:solidFill>
                  <a:srgbClr val="FFFFFF"/>
                </a:solidFill>
                <a:latin typeface="Aptos"/>
              </a:rPr>
              <a:t>Available: ID • Class • Tag • Inner Text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2139696" y="3246120"/>
            <a:ext cx="201168" cy="256032"/>
          </a:xfrm>
          <a:prstGeom prst="rightArrow">
            <a:avLst/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ight Arrow 51"/>
          <p:cNvSpPr/>
          <p:nvPr/>
        </p:nvSpPr>
        <p:spPr>
          <a:xfrm>
            <a:off x="4645152" y="3246120"/>
            <a:ext cx="201168" cy="256032"/>
          </a:xfrm>
          <a:prstGeom prst="rightArrow">
            <a:avLst/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ight Arrow 52"/>
          <p:cNvSpPr/>
          <p:nvPr/>
        </p:nvSpPr>
        <p:spPr>
          <a:xfrm>
            <a:off x="10863072" y="3246120"/>
            <a:ext cx="201168" cy="256032"/>
          </a:xfrm>
          <a:prstGeom prst="rightArrow">
            <a:avLst/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873752" y="1097280"/>
            <a:ext cx="5925312" cy="4828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873752" y="1097280"/>
            <a:ext cx="5925312" cy="438912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0056" y="1143000"/>
            <a:ext cx="393192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3  CONTROL &amp; MAP LOGIC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59952" y="1161288"/>
            <a:ext cx="1874519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Aptos"/>
              </a:rPr>
              <a:t>BusinessType-driven locator strategy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84064" y="1664208"/>
            <a:ext cx="1508760" cy="713232"/>
          </a:xfrm>
          <a:prstGeom prst="roundRect">
            <a:avLst>
              <a:gd name="adj" fmla="val 8000"/>
            </a:avLst>
          </a:prstGeom>
          <a:solidFill>
            <a:srgbClr val="EBF5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138927" y="1737360"/>
            <a:ext cx="1399031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720" b="1">
                <a:solidFill>
                  <a:srgbClr val="191919"/>
                </a:solidFill>
                <a:latin typeface="Aptos"/>
              </a:rPr>
              <a:t>Available Tosca
Properties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38927" y="2048256"/>
            <a:ext cx="1399031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80" b="0">
                <a:solidFill>
                  <a:srgbClr val="373737"/>
                </a:solidFill>
                <a:latin typeface="Aptos"/>
              </a:rPr>
              <a:t>ID • Class • Tag
Inner Text • Name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638543" y="1911095"/>
            <a:ext cx="201168" cy="256032"/>
          </a:xfrm>
          <a:prstGeom prst="rightArrow">
            <a:avLst/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903720" y="1664208"/>
            <a:ext cx="1508760" cy="713232"/>
          </a:xfrm>
          <a:prstGeom prst="roundRect">
            <a:avLst>
              <a:gd name="adj" fmla="val 8000"/>
            </a:avLst>
          </a:prstGeom>
          <a:solidFill>
            <a:srgbClr val="EBF5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58583" y="1737360"/>
            <a:ext cx="1399031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720" b="1">
                <a:solidFill>
                  <a:srgbClr val="191919"/>
                </a:solidFill>
                <a:latin typeface="Aptos"/>
              </a:rPr>
              <a:t>BusinessType
(from Module)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58583" y="2048256"/>
            <a:ext cx="1399031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80" b="0">
                <a:solidFill>
                  <a:srgbClr val="373737"/>
                </a:solidFill>
                <a:latin typeface="Aptos"/>
              </a:rPr>
              <a:t>Input • Button • Radio
CheckBox • DropDown • Table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8458200" y="1911095"/>
            <a:ext cx="201168" cy="256032"/>
          </a:xfrm>
          <a:prstGeom prst="rightArrow">
            <a:avLst/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732520" y="1664208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EBF5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787384" y="1737360"/>
            <a:ext cx="1033271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720" b="1">
                <a:solidFill>
                  <a:srgbClr val="191919"/>
                </a:solidFill>
                <a:latin typeface="Aptos"/>
              </a:rPr>
              <a:t>Rule / Combination
Match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87384" y="2048256"/>
            <a:ext cx="1033271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80" b="0">
                <a:solidFill>
                  <a:srgbClr val="373737"/>
                </a:solidFill>
                <a:latin typeface="Aptos"/>
              </a:rPr>
              <a:t>Apply mapping rules
based on evidence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9921240" y="1911095"/>
            <a:ext cx="201168" cy="256032"/>
          </a:xfrm>
          <a:prstGeom prst="rightArrow">
            <a:avLst/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0104120" y="1664208"/>
            <a:ext cx="566928" cy="713232"/>
          </a:xfrm>
          <a:prstGeom prst="roundRect">
            <a:avLst>
              <a:gd name="adj" fmla="val 8000"/>
            </a:avLst>
          </a:prstGeom>
          <a:solidFill>
            <a:srgbClr val="EBF5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158983" y="1671388"/>
            <a:ext cx="512065" cy="4062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720" b="1" dirty="0">
                <a:solidFill>
                  <a:srgbClr val="191919"/>
                </a:solidFill>
                <a:latin typeface="Aptos"/>
              </a:rPr>
              <a:t>Playwright Locator
+ Action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58983" y="2093171"/>
            <a:ext cx="475487" cy="16619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300" b="0" dirty="0">
                <a:solidFill>
                  <a:srgbClr val="373737"/>
                </a:solidFill>
                <a:latin typeface="Aptos"/>
              </a:rPr>
              <a:t>Generate locator
and control action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93208" y="2487168"/>
            <a:ext cx="416052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373737"/>
                </a:solidFill>
                <a:latin typeface="Aptos"/>
              </a:rPr>
              <a:t>BusinessType + Property Combination → Locator Strategy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4920" y="2779776"/>
            <a:ext cx="320040" cy="310896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93207" y="2798064"/>
            <a:ext cx="283464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94959" y="2779776"/>
            <a:ext cx="1005840" cy="310896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13247" y="2798064"/>
            <a:ext cx="969264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ptos"/>
              </a:rPr>
              <a:t>Property Combination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2779776"/>
            <a:ext cx="1005840" cy="310896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19088" y="2798064"/>
            <a:ext cx="969264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ptos"/>
              </a:rPr>
              <a:t>BusinessType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06640" y="2779776"/>
            <a:ext cx="685800" cy="310896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424927" y="2798064"/>
            <a:ext cx="649224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92440" y="2779776"/>
            <a:ext cx="1463040" cy="310896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110727" y="2798064"/>
            <a:ext cx="1426464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ptos"/>
              </a:rPr>
              <a:t>Playwright Locator Strategy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3090672"/>
            <a:ext cx="3200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97780" y="3108960"/>
            <a:ext cx="2743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191919"/>
                </a:solidFill>
                <a:latin typeface="Aptos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94959" y="3090672"/>
            <a:ext cx="10058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417820" y="3108960"/>
            <a:ext cx="9601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70" b="0" dirty="0">
                <a:solidFill>
                  <a:srgbClr val="191919"/>
                </a:solidFill>
                <a:latin typeface="Aptos"/>
              </a:rPr>
              <a:t>ID + Class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00800" y="3090672"/>
            <a:ext cx="10058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23660" y="3108960"/>
            <a:ext cx="9601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0" dirty="0">
                <a:solidFill>
                  <a:srgbClr val="191919"/>
                </a:solidFill>
                <a:latin typeface="Aptos"/>
              </a:rPr>
              <a:t>Input / </a:t>
            </a:r>
            <a:r>
              <a:rPr sz="570" b="0" dirty="0" err="1">
                <a:solidFill>
                  <a:srgbClr val="191919"/>
                </a:solidFill>
                <a:latin typeface="Aptos"/>
              </a:rPr>
              <a:t>TextBox</a:t>
            </a:r>
            <a:endParaRPr sz="57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7406640" y="3090672"/>
            <a:ext cx="68580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29500" y="3108960"/>
            <a:ext cx="64008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191919"/>
                </a:solidFill>
                <a:latin typeface="Aptos"/>
              </a:rPr>
              <a:t>Set 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92440" y="3090672"/>
            <a:ext cx="14630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115300" y="3174472"/>
            <a:ext cx="756746" cy="16158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70" b="0" dirty="0" err="1">
                <a:solidFill>
                  <a:srgbClr val="191919"/>
                </a:solidFill>
                <a:latin typeface="Aptos"/>
              </a:rPr>
              <a:t>page.locator</a:t>
            </a:r>
            <a:r>
              <a:rPr sz="570" b="0" dirty="0">
                <a:solidFill>
                  <a:srgbClr val="191919"/>
                </a:solidFill>
                <a:latin typeface="Aptos"/>
              </a:rPr>
              <a:t>(".class")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74920" y="3427171"/>
            <a:ext cx="320040" cy="336499"/>
          </a:xfrm>
          <a:prstGeom prst="rect">
            <a:avLst/>
          </a:prstGeom>
          <a:solidFill>
            <a:srgbClr val="F8F8F8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097780" y="3445459"/>
            <a:ext cx="2743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191919"/>
                </a:solidFill>
                <a:latin typeface="Aptos"/>
              </a:rPr>
              <a:t>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94959" y="3427171"/>
            <a:ext cx="1005840" cy="336499"/>
          </a:xfrm>
          <a:prstGeom prst="rect">
            <a:avLst/>
          </a:prstGeom>
          <a:solidFill>
            <a:srgbClr val="F8F8F8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417820" y="3510971"/>
            <a:ext cx="365613" cy="16158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70" b="0" dirty="0">
                <a:solidFill>
                  <a:srgbClr val="191919"/>
                </a:solidFill>
                <a:latin typeface="Aptos"/>
              </a:rPr>
              <a:t>I</a:t>
            </a:r>
            <a:r>
              <a:rPr lang="en-GB" sz="570" dirty="0">
                <a:solidFill>
                  <a:srgbClr val="191919"/>
                </a:solidFill>
                <a:latin typeface="Aptos"/>
              </a:rPr>
              <a:t>nnerText</a:t>
            </a:r>
            <a:endParaRPr sz="57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6400800" y="3427171"/>
            <a:ext cx="1005840" cy="336499"/>
          </a:xfrm>
          <a:prstGeom prst="rect">
            <a:avLst/>
          </a:prstGeom>
          <a:solidFill>
            <a:srgbClr val="F8F8F8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423660" y="3445459"/>
            <a:ext cx="9601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0">
                <a:solidFill>
                  <a:srgbClr val="191919"/>
                </a:solidFill>
                <a:latin typeface="Aptos"/>
              </a:rPr>
              <a:t>Radio Button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406640" y="3427171"/>
            <a:ext cx="685800" cy="336499"/>
          </a:xfrm>
          <a:prstGeom prst="rect">
            <a:avLst/>
          </a:prstGeom>
          <a:solidFill>
            <a:srgbClr val="F8F8F8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429500" y="3445459"/>
            <a:ext cx="64008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191919"/>
                </a:solidFill>
                <a:latin typeface="Aptos"/>
              </a:rPr>
              <a:t>Set 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92440" y="3427171"/>
            <a:ext cx="1463040" cy="336499"/>
          </a:xfrm>
          <a:prstGeom prst="rect">
            <a:avLst/>
          </a:prstGeom>
          <a:solidFill>
            <a:srgbClr val="F8F8F8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115301" y="3482496"/>
            <a:ext cx="1284732" cy="24929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lang="en-IN" sz="570" dirty="0">
                <a:solidFill>
                  <a:srgbClr val="191919"/>
                </a:solidFill>
                <a:latin typeface="Aptos"/>
              </a:rPr>
              <a:t>await </a:t>
            </a:r>
            <a:r>
              <a:rPr lang="en-IN" sz="570" dirty="0" err="1">
                <a:solidFill>
                  <a:srgbClr val="191919"/>
                </a:solidFill>
                <a:latin typeface="Aptos"/>
              </a:rPr>
              <a:t>page.getByRole</a:t>
            </a:r>
            <a:r>
              <a:rPr lang="en-IN" sz="570" dirty="0">
                <a:solidFill>
                  <a:srgbClr val="191919"/>
                </a:solidFill>
                <a:latin typeface="Aptos"/>
              </a:rPr>
              <a:t>('radio', { name: 'Male' }).check();</a:t>
            </a:r>
            <a:endParaRPr sz="57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5074920" y="3763670"/>
            <a:ext cx="3200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097780" y="3781958"/>
            <a:ext cx="2743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191919"/>
                </a:solidFill>
                <a:latin typeface="Aptos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394959" y="3763670"/>
            <a:ext cx="10058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417820" y="3847470"/>
            <a:ext cx="497059" cy="16158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lang="en-GB" sz="570" b="0" dirty="0">
                <a:solidFill>
                  <a:srgbClr val="191919"/>
                </a:solidFill>
                <a:latin typeface="Aptos"/>
              </a:rPr>
              <a:t>DefaultName</a:t>
            </a:r>
            <a:endParaRPr sz="57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6400800" y="3763670"/>
            <a:ext cx="10058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423660" y="3781958"/>
            <a:ext cx="9601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0">
                <a:solidFill>
                  <a:srgbClr val="191919"/>
                </a:solidFill>
                <a:latin typeface="Aptos"/>
              </a:rPr>
              <a:t>Check Box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406640" y="3763670"/>
            <a:ext cx="68580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429500" y="3781958"/>
            <a:ext cx="64008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191919"/>
                </a:solidFill>
                <a:latin typeface="Aptos"/>
              </a:rPr>
              <a:t>Set 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92440" y="3763670"/>
            <a:ext cx="14630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115301" y="3819910"/>
            <a:ext cx="1363980" cy="24929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lang="en-IN" sz="570" dirty="0">
                <a:solidFill>
                  <a:srgbClr val="191919"/>
                </a:solidFill>
                <a:latin typeface="Aptos"/>
              </a:rPr>
              <a:t>await </a:t>
            </a:r>
            <a:r>
              <a:rPr lang="en-IN" sz="570" dirty="0" err="1">
                <a:solidFill>
                  <a:srgbClr val="191919"/>
                </a:solidFill>
                <a:latin typeface="Aptos"/>
              </a:rPr>
              <a:t>page.getByRole</a:t>
            </a:r>
            <a:r>
              <a:rPr lang="en-IN" sz="570" dirty="0">
                <a:solidFill>
                  <a:srgbClr val="191919"/>
                </a:solidFill>
                <a:latin typeface="Aptos"/>
              </a:rPr>
              <a:t>('checkbox', { name: 'I agree' }).check();</a:t>
            </a:r>
            <a:endParaRPr sz="57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5074920" y="4100169"/>
            <a:ext cx="320040" cy="336499"/>
          </a:xfrm>
          <a:prstGeom prst="rect">
            <a:avLst/>
          </a:prstGeom>
          <a:solidFill>
            <a:srgbClr val="F8F8F8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097780" y="4118457"/>
            <a:ext cx="2743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191919"/>
                </a:solidFill>
                <a:latin typeface="Aptos"/>
              </a:rPr>
              <a:t>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394959" y="4100169"/>
            <a:ext cx="1005840" cy="336499"/>
          </a:xfrm>
          <a:prstGeom prst="rect">
            <a:avLst/>
          </a:prstGeom>
          <a:solidFill>
            <a:srgbClr val="F8F8F8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417820" y="4183969"/>
            <a:ext cx="319126" cy="16158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lang="en-GB" sz="570" b="0" dirty="0">
                <a:solidFill>
                  <a:srgbClr val="191919"/>
                </a:solidFill>
                <a:latin typeface="Aptos"/>
              </a:rPr>
              <a:t>ID</a:t>
            </a:r>
            <a:r>
              <a:rPr sz="570" b="0" dirty="0">
                <a:solidFill>
                  <a:srgbClr val="191919"/>
                </a:solidFill>
                <a:latin typeface="Aptos"/>
              </a:rPr>
              <a:t> + Tag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4100169"/>
            <a:ext cx="1005840" cy="336499"/>
          </a:xfrm>
          <a:prstGeom prst="rect">
            <a:avLst/>
          </a:prstGeom>
          <a:solidFill>
            <a:srgbClr val="F8F8F8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423660" y="4118457"/>
            <a:ext cx="9601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0">
                <a:solidFill>
                  <a:srgbClr val="191919"/>
                </a:solidFill>
                <a:latin typeface="Aptos"/>
              </a:rPr>
              <a:t>Drop Down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406640" y="4100169"/>
            <a:ext cx="685800" cy="336499"/>
          </a:xfrm>
          <a:prstGeom prst="rect">
            <a:avLst/>
          </a:prstGeom>
          <a:solidFill>
            <a:srgbClr val="F8F8F8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429500" y="4118457"/>
            <a:ext cx="64008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191919"/>
                </a:solidFill>
                <a:latin typeface="Aptos"/>
              </a:rPr>
              <a:t>Set 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92440" y="4100169"/>
            <a:ext cx="1463040" cy="336499"/>
          </a:xfrm>
          <a:prstGeom prst="rect">
            <a:avLst/>
          </a:prstGeom>
          <a:solidFill>
            <a:srgbClr val="F8F8F8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115300" y="4096253"/>
            <a:ext cx="1284732" cy="33701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lang="en-GB" sz="570" dirty="0">
                <a:solidFill>
                  <a:srgbClr val="191919"/>
                </a:solidFill>
                <a:latin typeface="Aptos"/>
              </a:rPr>
              <a:t>await </a:t>
            </a:r>
            <a:r>
              <a:rPr lang="en-GB" sz="570" dirty="0" err="1">
                <a:solidFill>
                  <a:srgbClr val="191919"/>
                </a:solidFill>
                <a:latin typeface="Aptos"/>
              </a:rPr>
              <a:t>page.getByRole</a:t>
            </a:r>
            <a:r>
              <a:rPr lang="en-GB" sz="570" dirty="0">
                <a:solidFill>
                  <a:srgbClr val="191919"/>
                </a:solidFill>
                <a:latin typeface="Aptos"/>
              </a:rPr>
              <a:t>('</a:t>
            </a:r>
            <a:r>
              <a:rPr lang="en-GB" sz="570" dirty="0" err="1">
                <a:solidFill>
                  <a:srgbClr val="191919"/>
                </a:solidFill>
                <a:latin typeface="Aptos"/>
              </a:rPr>
              <a:t>combobox</a:t>
            </a:r>
            <a:r>
              <a:rPr lang="en-GB" sz="570" dirty="0">
                <a:solidFill>
                  <a:srgbClr val="191919"/>
                </a:solidFill>
                <a:latin typeface="Aptos"/>
              </a:rPr>
              <a:t>', { name: 'Country' }).</a:t>
            </a:r>
            <a:r>
              <a:rPr lang="en-GB" sz="570" dirty="0" err="1">
                <a:solidFill>
                  <a:srgbClr val="191919"/>
                </a:solidFill>
                <a:latin typeface="Aptos"/>
              </a:rPr>
              <a:t>selectOption</a:t>
            </a:r>
            <a:r>
              <a:rPr lang="en-GB" sz="570" dirty="0">
                <a:solidFill>
                  <a:srgbClr val="191919"/>
                </a:solidFill>
                <a:latin typeface="Aptos"/>
              </a:rPr>
              <a:t>('</a:t>
            </a:r>
            <a:r>
              <a:rPr lang="en-GB" sz="570" dirty="0" err="1">
                <a:solidFill>
                  <a:srgbClr val="191919"/>
                </a:solidFill>
                <a:latin typeface="Aptos"/>
              </a:rPr>
              <a:t>india</a:t>
            </a:r>
            <a:r>
              <a:rPr lang="en-GB" sz="570" dirty="0">
                <a:solidFill>
                  <a:srgbClr val="191919"/>
                </a:solidFill>
                <a:latin typeface="Aptos"/>
              </a:rPr>
              <a:t>');</a:t>
            </a:r>
            <a:endParaRPr sz="57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5074920" y="4436668"/>
            <a:ext cx="3200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097780" y="4454956"/>
            <a:ext cx="2743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191919"/>
                </a:solidFill>
                <a:latin typeface="Aptos"/>
              </a:rPr>
              <a:t>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394959" y="4436668"/>
            <a:ext cx="10058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417820" y="4520468"/>
            <a:ext cx="832087" cy="16158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70" b="0" dirty="0">
                <a:solidFill>
                  <a:srgbClr val="191919"/>
                </a:solidFill>
                <a:latin typeface="Aptos"/>
              </a:rPr>
              <a:t>Inner Text </a:t>
            </a:r>
            <a:r>
              <a:rPr lang="en-GB" sz="570" dirty="0">
                <a:solidFill>
                  <a:srgbClr val="191919"/>
                </a:solidFill>
                <a:latin typeface="Aptos"/>
              </a:rPr>
              <a:t>+ Class Name</a:t>
            </a:r>
            <a:endParaRPr sz="57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6400800" y="4436668"/>
            <a:ext cx="10058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423660" y="4454956"/>
            <a:ext cx="96012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0">
                <a:solidFill>
                  <a:srgbClr val="191919"/>
                </a:solidFill>
                <a:latin typeface="Aptos"/>
              </a:rPr>
              <a:t>Table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406640" y="4436668"/>
            <a:ext cx="68580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429500" y="4454956"/>
            <a:ext cx="64008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191919"/>
                </a:solidFill>
                <a:latin typeface="Aptos"/>
              </a:rPr>
              <a:t>Set 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92440" y="4436668"/>
            <a:ext cx="1463040" cy="336499"/>
          </a:xfrm>
          <a:prstGeom prst="rect">
            <a:avLst/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115300" y="4421651"/>
            <a:ext cx="1440179" cy="33701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lang="en-IN" sz="570" dirty="0">
                <a:solidFill>
                  <a:srgbClr val="191919"/>
                </a:solidFill>
                <a:latin typeface="Aptos"/>
              </a:rPr>
              <a:t>await </a:t>
            </a:r>
            <a:r>
              <a:rPr lang="en-IN" sz="570" dirty="0" err="1">
                <a:solidFill>
                  <a:srgbClr val="191919"/>
                </a:solidFill>
                <a:latin typeface="Aptos"/>
              </a:rPr>
              <a:t>page.locator</a:t>
            </a:r>
            <a:r>
              <a:rPr lang="en-IN" sz="570" dirty="0">
                <a:solidFill>
                  <a:srgbClr val="191919"/>
                </a:solidFill>
                <a:latin typeface="Aptos"/>
              </a:rPr>
              <a:t>('#</a:t>
            </a:r>
            <a:r>
              <a:rPr lang="en-IN" sz="570" dirty="0" err="1">
                <a:solidFill>
                  <a:srgbClr val="191919"/>
                </a:solidFill>
                <a:latin typeface="Aptos"/>
              </a:rPr>
              <a:t>employeeTable</a:t>
            </a:r>
            <a:r>
              <a:rPr lang="en-IN" sz="570" dirty="0">
                <a:solidFill>
                  <a:srgbClr val="191919"/>
                </a:solidFill>
                <a:latin typeface="Aptos"/>
              </a:rPr>
              <a:t> </a:t>
            </a:r>
            <a:r>
              <a:rPr lang="en-IN" sz="570" dirty="0" err="1">
                <a:solidFill>
                  <a:srgbClr val="191919"/>
                </a:solidFill>
                <a:latin typeface="Aptos"/>
              </a:rPr>
              <a:t>tbody</a:t>
            </a:r>
            <a:r>
              <a:rPr lang="en-IN" sz="570" dirty="0">
                <a:solidFill>
                  <a:srgbClr val="191919"/>
                </a:solidFill>
                <a:latin typeface="Aptos"/>
              </a:rPr>
              <a:t> tr').first().locator('input').first()</a:t>
            </a:r>
          </a:p>
          <a:p>
            <a:r>
              <a:rPr lang="en-IN" sz="570" dirty="0">
                <a:solidFill>
                  <a:srgbClr val="191919"/>
                </a:solidFill>
                <a:latin typeface="Aptos"/>
              </a:rPr>
              <a:t>  .fill('Venkat');</a:t>
            </a:r>
            <a:endParaRPr sz="57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34" name="Rounded Rectangle 133"/>
          <p:cNvSpPr/>
          <p:nvPr/>
        </p:nvSpPr>
        <p:spPr>
          <a:xfrm>
            <a:off x="9646920" y="2779776"/>
            <a:ext cx="1024128" cy="1993392"/>
          </a:xfrm>
          <a:prstGeom prst="roundRect">
            <a:avLst>
              <a:gd name="adj" fmla="val 8000"/>
            </a:avLst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729216" y="2852928"/>
            <a:ext cx="859536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Rule Priority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729216" y="329184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729216" y="3291840"/>
            <a:ext cx="201168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976104" y="3311632"/>
            <a:ext cx="458587" cy="16158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lang="en-GB" sz="570" dirty="0">
                <a:solidFill>
                  <a:srgbClr val="FFFFFF"/>
                </a:solidFill>
                <a:latin typeface="Aptos"/>
              </a:rPr>
              <a:t>Class Name</a:t>
            </a:r>
            <a:endParaRPr sz="57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9729216" y="356616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29216" y="3566160"/>
            <a:ext cx="201168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976104" y="3585952"/>
            <a:ext cx="264624" cy="16158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lang="en-GB" sz="570" b="0" dirty="0">
                <a:solidFill>
                  <a:srgbClr val="FFFFFF"/>
                </a:solidFill>
                <a:latin typeface="Aptos"/>
              </a:rPr>
              <a:t>Name</a:t>
            </a:r>
            <a:endParaRPr sz="57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9729216" y="384048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729216" y="3840480"/>
            <a:ext cx="201168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976104" y="3860272"/>
            <a:ext cx="264624" cy="16158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lang="en-GB" sz="570" dirty="0">
                <a:solidFill>
                  <a:srgbClr val="FFFFFF"/>
                </a:solidFill>
                <a:latin typeface="Aptos"/>
              </a:rPr>
              <a:t>Name</a:t>
            </a:r>
            <a:endParaRPr sz="57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5" name="Rounded Rectangle 144"/>
          <p:cNvSpPr/>
          <p:nvPr/>
        </p:nvSpPr>
        <p:spPr>
          <a:xfrm>
            <a:off x="9729216" y="411480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729216" y="4114800"/>
            <a:ext cx="201168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976104" y="4134592"/>
            <a:ext cx="142796" cy="16158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lang="en-GB" sz="570" dirty="0">
                <a:solidFill>
                  <a:srgbClr val="FFFFFF"/>
                </a:solidFill>
                <a:latin typeface="Aptos"/>
              </a:rPr>
              <a:t>ID</a:t>
            </a:r>
            <a:endParaRPr sz="57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9729216" y="438912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EB5F05"/>
          </a:solidFill>
          <a:ln>
            <a:solidFill>
              <a:srgbClr val="EB5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729216" y="4389120"/>
            <a:ext cx="201168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976104" y="4408912"/>
            <a:ext cx="142796" cy="16158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lang="en-GB" sz="570" dirty="0">
                <a:solidFill>
                  <a:srgbClr val="FFFFFF"/>
                </a:solidFill>
                <a:latin typeface="Aptos"/>
              </a:rPr>
              <a:t>ID</a:t>
            </a:r>
            <a:endParaRPr sz="57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5093208" y="4892040"/>
            <a:ext cx="155448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373737"/>
                </a:solidFill>
                <a:latin typeface="Aptos"/>
              </a:rPr>
              <a:t>Detailed Examples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074920" y="5138928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5175504" y="5193792"/>
            <a:ext cx="1965960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730" b="1">
                <a:solidFill>
                  <a:srgbClr val="373737"/>
                </a:solidFill>
                <a:latin typeface="Aptos"/>
              </a:rPr>
              <a:t>Example 1: Button (Click)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175504" y="5404839"/>
            <a:ext cx="1127040" cy="16312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80" b="0" dirty="0">
                <a:solidFill>
                  <a:srgbClr val="191919"/>
                </a:solidFill>
                <a:latin typeface="Aptos"/>
              </a:rPr>
              <a:t>JSON: id="</a:t>
            </a:r>
            <a:r>
              <a:rPr sz="580" b="0" dirty="0" err="1">
                <a:solidFill>
                  <a:srgbClr val="191919"/>
                </a:solidFill>
                <a:latin typeface="Aptos"/>
              </a:rPr>
              <a:t>loginBtn</a:t>
            </a:r>
            <a:r>
              <a:rPr sz="580" b="0" dirty="0">
                <a:solidFill>
                  <a:srgbClr val="191919"/>
                </a:solidFill>
                <a:latin typeface="Aptos"/>
              </a:rPr>
              <a:t>", </a:t>
            </a:r>
            <a:r>
              <a:rPr lang="en-GB" sz="580" b="0" dirty="0">
                <a:solidFill>
                  <a:srgbClr val="191919"/>
                </a:solidFill>
                <a:latin typeface="Aptos"/>
              </a:rPr>
              <a:t>BT</a:t>
            </a:r>
            <a:r>
              <a:rPr sz="580" b="0" dirty="0">
                <a:solidFill>
                  <a:srgbClr val="191919"/>
                </a:solidFill>
                <a:latin typeface="Aptos"/>
              </a:rPr>
              <a:t>="b</a:t>
            </a:r>
            <a:r>
              <a:rPr lang="en-GB" sz="580" dirty="0" err="1">
                <a:solidFill>
                  <a:srgbClr val="191919"/>
                </a:solidFill>
                <a:latin typeface="Aptos"/>
              </a:rPr>
              <a:t>utton</a:t>
            </a:r>
            <a:r>
              <a:rPr sz="580" b="0" dirty="0">
                <a:solidFill>
                  <a:srgbClr val="191919"/>
                </a:solidFill>
                <a:latin typeface="Aptos"/>
              </a:rPr>
              <a:t>"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175504" y="5587719"/>
            <a:ext cx="1271310" cy="16312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lang="en-GB" sz="580" dirty="0">
                <a:solidFill>
                  <a:srgbClr val="191919"/>
                </a:solidFill>
                <a:latin typeface="Aptos"/>
              </a:rPr>
              <a:t>Await </a:t>
            </a:r>
            <a:r>
              <a:rPr lang="en-GB" sz="580" dirty="0" err="1">
                <a:solidFill>
                  <a:srgbClr val="191919"/>
                </a:solidFill>
                <a:latin typeface="Aptos"/>
              </a:rPr>
              <a:t>page.locator</a:t>
            </a:r>
            <a:r>
              <a:rPr lang="en-GB" sz="580" dirty="0">
                <a:solidFill>
                  <a:srgbClr val="191919"/>
                </a:solidFill>
                <a:latin typeface="Aptos"/>
              </a:rPr>
              <a:t>(“#</a:t>
            </a:r>
            <a:r>
              <a:rPr lang="en-GB" sz="580" dirty="0" err="1">
                <a:solidFill>
                  <a:srgbClr val="191919"/>
                </a:solidFill>
                <a:latin typeface="Aptos"/>
              </a:rPr>
              <a:t>loginbtn</a:t>
            </a:r>
            <a:r>
              <a:rPr lang="en-GB" sz="580" dirty="0">
                <a:solidFill>
                  <a:srgbClr val="191919"/>
                </a:solidFill>
                <a:latin typeface="Aptos"/>
              </a:rPr>
              <a:t>).click()</a:t>
            </a:r>
            <a:endParaRPr sz="58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56" name="Rounded Rectangle 155"/>
          <p:cNvSpPr/>
          <p:nvPr/>
        </p:nvSpPr>
        <p:spPr>
          <a:xfrm>
            <a:off x="7333488" y="5138928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EBF5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7434072" y="5193792"/>
            <a:ext cx="1965960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730" b="1">
                <a:solidFill>
                  <a:srgbClr val="373737"/>
                </a:solidFill>
                <a:latin typeface="Aptos"/>
              </a:rPr>
              <a:t>Example 2: Drop Down (Select)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34072" y="5404839"/>
            <a:ext cx="1220014" cy="16312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80" b="0" dirty="0">
                <a:solidFill>
                  <a:srgbClr val="191919"/>
                </a:solidFill>
                <a:latin typeface="Aptos"/>
              </a:rPr>
              <a:t>JSON: id="country", </a:t>
            </a:r>
            <a:r>
              <a:rPr lang="en-GB" sz="580" dirty="0">
                <a:solidFill>
                  <a:srgbClr val="191919"/>
                </a:solidFill>
                <a:latin typeface="Aptos"/>
              </a:rPr>
              <a:t>BT  = Dropdown</a:t>
            </a:r>
            <a:endParaRPr sz="58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7434072" y="5587719"/>
            <a:ext cx="1715341" cy="16312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lang="en-GB" sz="580" dirty="0">
                <a:solidFill>
                  <a:srgbClr val="191919"/>
                </a:solidFill>
                <a:latin typeface="Aptos"/>
              </a:rPr>
              <a:t>Await </a:t>
            </a:r>
            <a:r>
              <a:rPr lang="en-GB" sz="580" dirty="0" err="1">
                <a:solidFill>
                  <a:srgbClr val="191919"/>
                </a:solidFill>
                <a:latin typeface="Aptos"/>
              </a:rPr>
              <a:t>page.locator</a:t>
            </a:r>
            <a:r>
              <a:rPr lang="en-GB" sz="580" dirty="0">
                <a:solidFill>
                  <a:srgbClr val="191919"/>
                </a:solidFill>
                <a:latin typeface="Aptos"/>
              </a:rPr>
              <a:t>(“#country).</a:t>
            </a:r>
            <a:r>
              <a:rPr sz="580" b="0" dirty="0" err="1">
                <a:solidFill>
                  <a:srgbClr val="191919"/>
                </a:solidFill>
                <a:latin typeface="Aptos"/>
              </a:rPr>
              <a:t>selectOption</a:t>
            </a:r>
            <a:r>
              <a:rPr sz="580" b="0" dirty="0">
                <a:solidFill>
                  <a:srgbClr val="191919"/>
                </a:solidFill>
                <a:latin typeface="Aptos"/>
              </a:rPr>
              <a:t>(</a:t>
            </a:r>
            <a:r>
              <a:rPr lang="en-GB" sz="580" b="0" dirty="0">
                <a:solidFill>
                  <a:srgbClr val="191919"/>
                </a:solidFill>
                <a:latin typeface="Aptos"/>
              </a:rPr>
              <a:t>“India</a:t>
            </a:r>
            <a:r>
              <a:rPr sz="580" b="0" dirty="0">
                <a:solidFill>
                  <a:srgbClr val="191919"/>
                </a:solidFill>
                <a:latin typeface="Aptos"/>
              </a:rPr>
              <a:t>)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1045952" y="1097280"/>
            <a:ext cx="1005840" cy="482803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11045952" y="1097280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1164824" y="1143000"/>
            <a:ext cx="77724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4  OUTPUT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137392" y="1552081"/>
            <a:ext cx="841248" cy="3385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60" b="1" dirty="0">
                <a:solidFill>
                  <a:srgbClr val="191919"/>
                </a:solidFill>
                <a:latin typeface="Aptos"/>
              </a:rPr>
              <a:t>Playwright Test Script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1119104" y="1874519"/>
            <a:ext cx="859536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1183112" y="1984247"/>
            <a:ext cx="795528" cy="76328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300"/>
              </a:spcAft>
              <a:defRPr sz="600">
                <a:solidFill>
                  <a:srgbClr val="373737"/>
                </a:solidFill>
                <a:latin typeface="Aptos"/>
              </a:defRPr>
            </a:pPr>
            <a:r>
              <a:rPr dirty="0"/>
              <a:t>• Clean TypeScript</a:t>
            </a:r>
          </a:p>
          <a:p>
            <a:pPr>
              <a:spcAft>
                <a:spcPts val="300"/>
              </a:spcAft>
              <a:defRPr sz="600">
                <a:solidFill>
                  <a:srgbClr val="373737"/>
                </a:solidFill>
                <a:latin typeface="Aptos"/>
              </a:defRPr>
            </a:pPr>
            <a:r>
              <a:rPr dirty="0"/>
              <a:t>• Best locator</a:t>
            </a:r>
          </a:p>
          <a:p>
            <a:pPr>
              <a:spcAft>
                <a:spcPts val="300"/>
              </a:spcAft>
              <a:defRPr sz="600">
                <a:solidFill>
                  <a:srgbClr val="373737"/>
                </a:solidFill>
                <a:latin typeface="Aptos"/>
              </a:defRPr>
            </a:pPr>
            <a:r>
              <a:rPr dirty="0"/>
              <a:t>• Control actions</a:t>
            </a:r>
          </a:p>
          <a:p>
            <a:pPr>
              <a:spcAft>
                <a:spcPts val="300"/>
              </a:spcAft>
              <a:defRPr sz="600">
                <a:solidFill>
                  <a:srgbClr val="373737"/>
                </a:solidFill>
                <a:latin typeface="Aptos"/>
              </a:defRPr>
            </a:pPr>
            <a:r>
              <a:rPr dirty="0"/>
              <a:t>• Reusable scripts</a:t>
            </a:r>
          </a:p>
          <a:p>
            <a:pPr>
              <a:spcAft>
                <a:spcPts val="300"/>
              </a:spcAft>
              <a:defRPr sz="600">
                <a:solidFill>
                  <a:srgbClr val="373737"/>
                </a:solidFill>
                <a:latin typeface="Aptos"/>
              </a:defRPr>
            </a:pPr>
            <a:r>
              <a:rPr dirty="0"/>
              <a:t>• Table / dropdown / checkbox / radio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137392" y="3502152"/>
            <a:ext cx="82296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Mapping Report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1119104" y="3776472"/>
            <a:ext cx="859536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1183112" y="3886200"/>
            <a:ext cx="713232" cy="107899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spcAft>
                <a:spcPts val="300"/>
              </a:spcAft>
              <a:defRPr sz="590">
                <a:solidFill>
                  <a:srgbClr val="373737"/>
                </a:solidFill>
                <a:latin typeface="Aptos"/>
              </a:defRPr>
            </a:pPr>
            <a:r>
              <a:t>• Test step</a:t>
            </a:r>
          </a:p>
          <a:p>
            <a:pPr>
              <a:spcAft>
                <a:spcPts val="300"/>
              </a:spcAft>
              <a:defRPr sz="590">
                <a:solidFill>
                  <a:srgbClr val="373737"/>
                </a:solidFill>
                <a:latin typeface="Aptos"/>
              </a:defRPr>
            </a:pPr>
            <a:r>
              <a:t>• Matched module</a:t>
            </a:r>
          </a:p>
          <a:p>
            <a:pPr>
              <a:spcAft>
                <a:spcPts val="300"/>
              </a:spcAft>
              <a:defRPr sz="590">
                <a:solidFill>
                  <a:srgbClr val="373737"/>
                </a:solidFill>
                <a:latin typeface="Aptos"/>
              </a:defRPr>
            </a:pPr>
            <a:r>
              <a:t>• Properties found</a:t>
            </a:r>
          </a:p>
          <a:p>
            <a:pPr>
              <a:spcAft>
                <a:spcPts val="300"/>
              </a:spcAft>
              <a:defRPr sz="590">
                <a:solidFill>
                  <a:srgbClr val="373737"/>
                </a:solidFill>
                <a:latin typeface="Aptos"/>
              </a:defRPr>
            </a:pPr>
            <a:r>
              <a:t>• BusinessType</a:t>
            </a:r>
          </a:p>
          <a:p>
            <a:pPr>
              <a:spcAft>
                <a:spcPts val="300"/>
              </a:spcAft>
              <a:defRPr sz="590">
                <a:solidFill>
                  <a:srgbClr val="373737"/>
                </a:solidFill>
                <a:latin typeface="Aptos"/>
              </a:defRPr>
            </a:pPr>
            <a:r>
              <a:t>• Rule selected</a:t>
            </a:r>
          </a:p>
          <a:p>
            <a:pPr>
              <a:spcAft>
                <a:spcPts val="300"/>
              </a:spcAft>
              <a:defRPr sz="590">
                <a:solidFill>
                  <a:srgbClr val="373737"/>
                </a:solidFill>
                <a:latin typeface="Aptos"/>
              </a:defRPr>
            </a:pPr>
            <a:r>
              <a:t>• Matched / Unmatched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1119104" y="5266944"/>
            <a:ext cx="859536" cy="429768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>
            <a:solidFill>
              <a:srgbClr val="1C8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1164824" y="5288501"/>
            <a:ext cx="731520" cy="3693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640" b="1" dirty="0">
                <a:solidFill>
                  <a:srgbClr val="1C8248"/>
                </a:solidFill>
                <a:latin typeface="Aptos"/>
              </a:rPr>
              <a:t>✓ Ready for Review / Execution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37160" y="6062472"/>
            <a:ext cx="11905488" cy="576072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>
            <a:solidFill>
              <a:srgbClr val="F4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20040" y="6153912"/>
            <a:ext cx="1417320" cy="2103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40" b="1">
                <a:solidFill>
                  <a:srgbClr val="191919"/>
                </a:solidFill>
                <a:latin typeface="Aptos"/>
              </a:rPr>
              <a:t>WHY THIS LOGIC MATTERS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920240" y="6126480"/>
            <a:ext cx="160020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750" b="1">
                <a:solidFill>
                  <a:srgbClr val="373737"/>
                </a:solidFill>
                <a:latin typeface="Aptos"/>
              </a:rPr>
              <a:t>Property-aware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920240" y="6318504"/>
            <a:ext cx="160020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80" b="0">
                <a:solidFill>
                  <a:srgbClr val="696969"/>
                </a:solidFill>
                <a:latin typeface="Aptos"/>
              </a:rPr>
              <a:t>Uses available Tosca properties as evidence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0" y="6126480"/>
            <a:ext cx="160020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750" b="1">
                <a:solidFill>
                  <a:srgbClr val="373737"/>
                </a:solidFill>
                <a:latin typeface="Aptos"/>
              </a:rPr>
              <a:t>BusinessType-aware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572000" y="6318504"/>
            <a:ext cx="160020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80" b="0">
                <a:solidFill>
                  <a:srgbClr val="696969"/>
                </a:solidFill>
                <a:latin typeface="Aptos"/>
              </a:rPr>
              <a:t>Maps control type to the correct Playwright action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315200" y="6126480"/>
            <a:ext cx="160020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750" b="1">
                <a:solidFill>
                  <a:srgbClr val="373737"/>
                </a:solidFill>
                <a:latin typeface="Aptos"/>
              </a:rPr>
              <a:t>Deterministic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315200" y="6318504"/>
            <a:ext cx="160020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80" b="0">
                <a:solidFill>
                  <a:srgbClr val="696969"/>
                </a:solidFill>
                <a:latin typeface="Aptos"/>
              </a:rPr>
              <a:t>Applies priority + combination rules consistently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921240" y="6126480"/>
            <a:ext cx="160020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750" b="1">
                <a:solidFill>
                  <a:srgbClr val="373737"/>
                </a:solidFill>
                <a:latin typeface="Aptos"/>
              </a:rPr>
              <a:t>Full traceability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921240" y="6318504"/>
            <a:ext cx="160020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80" b="0">
                <a:solidFill>
                  <a:srgbClr val="696969"/>
                </a:solidFill>
                <a:latin typeface="Aptos"/>
              </a:rPr>
              <a:t>Reports property, rule, locator and status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320040" y="6693408"/>
            <a:ext cx="2286000" cy="1371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570" b="0">
                <a:solidFill>
                  <a:srgbClr val="FFFFFF"/>
                </a:solidFill>
                <a:latin typeface="Aptos"/>
              </a:rPr>
              <a:t>Build trust in a changing world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149840" y="6693408"/>
            <a:ext cx="1645920" cy="1371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500" b="0">
                <a:solidFill>
                  <a:srgbClr val="FFFFFF"/>
                </a:solidFill>
                <a:latin typeface="Aptos"/>
              </a:rPr>
              <a:t>© 2026 PwC.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535</Words>
  <Application>Microsoft Office PowerPoint</Application>
  <PresentationFormat>Widescreen</PresentationFormat>
  <Paragraphs>124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Tholuchuri Venkat</cp:lastModifiedBy>
  <cp:revision>3</cp:revision>
  <dcterms:created xsi:type="dcterms:W3CDTF">2013-01-27T09:14:16Z</dcterms:created>
  <dcterms:modified xsi:type="dcterms:W3CDTF">2026-09-24T05:19:44Z</dcterms:modified>
  <cp:category/>
</cp:coreProperties>
</file>